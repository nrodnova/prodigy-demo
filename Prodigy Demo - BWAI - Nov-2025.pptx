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Roboto Medium"/>
      <p:regular r:id="rId20"/>
      <p:bold r:id="rId21"/>
      <p:italic r:id="rId22"/>
      <p:boldItalic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Roboto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edium-regular.fntdata"/><Relationship Id="rId22" Type="http://schemas.openxmlformats.org/officeDocument/2006/relationships/font" Target="fonts/RobotoMedium-italic.fntdata"/><Relationship Id="rId21" Type="http://schemas.openxmlformats.org/officeDocument/2006/relationships/font" Target="fonts/RobotoMedium-bold.fntdata"/><Relationship Id="rId24" Type="http://schemas.openxmlformats.org/officeDocument/2006/relationships/font" Target="fonts/Roboto-regular.fntdata"/><Relationship Id="rId23" Type="http://schemas.openxmlformats.org/officeDocument/2006/relationships/font" Target="fonts/Roboto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RobotoSemiBold-regular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SemiBold-boldItalic.fntdata"/><Relationship Id="rId30" Type="http://schemas.openxmlformats.org/officeDocument/2006/relationships/font" Target="fonts/RobotoSemiBold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0662133d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0662133d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29e284b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29e284b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0662133da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0662133da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0662133da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0662133da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0662133da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0662133da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0662133da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0662133da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0662133da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0662133da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0662133da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0662133da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0662133da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0662133da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prodi.gy/docs" TargetMode="External"/><Relationship Id="rId4" Type="http://schemas.openxmlformats.org/officeDocument/2006/relationships/hyperlink" Target="https://www.pcmag.com/encyclopedia/term/rtfm" TargetMode="External"/><Relationship Id="rId5" Type="http://schemas.openxmlformats.org/officeDocument/2006/relationships/hyperlink" Target="https://www.pcmag.com/encyclopedia/term/rtfm" TargetMode="External"/><Relationship Id="rId6" Type="http://schemas.openxmlformats.org/officeDocument/2006/relationships/hyperlink" Target="https://en.wikipedia.org/wiki/RTFM" TargetMode="External"/><Relationship Id="rId7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prodi.gy/" TargetMode="External"/><Relationship Id="rId4" Type="http://schemas.openxmlformats.org/officeDocument/2006/relationships/hyperlink" Target="https://prodi.gy/docs" TargetMode="External"/><Relationship Id="rId5" Type="http://schemas.openxmlformats.org/officeDocument/2006/relationships/hyperlink" Target="https://demo.prodi.gy" TargetMode="External"/><Relationship Id="rId6" Type="http://schemas.openxmlformats.org/officeDocument/2006/relationships/hyperlink" Target="https://explosion.ai/_/topic/llm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1300225"/>
            <a:ext cx="9144000" cy="1533900"/>
          </a:xfrm>
          <a:prstGeom prst="rect">
            <a:avLst/>
          </a:prstGeom>
          <a:solidFill>
            <a:srgbClr val="F8F4F1"/>
          </a:solidFill>
          <a:effectLst>
            <a:outerShdw blurRad="28575" rotWithShape="0" algn="bl" dir="5400000" dist="19050">
              <a:srgbClr val="000000">
                <a:alpha val="36000"/>
              </a:srgbClr>
            </a:outerShdw>
          </a:effectLst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latin typeface="Roboto Medium"/>
                <a:ea typeface="Roboto Medium"/>
                <a:cs typeface="Roboto Medium"/>
                <a:sym typeface="Roboto Medium"/>
              </a:rPr>
              <a:t>Annotation</a:t>
            </a:r>
            <a:r>
              <a:rPr lang="en" sz="4600">
                <a:latin typeface="Roboto Medium"/>
                <a:ea typeface="Roboto Medium"/>
                <a:cs typeface="Roboto Medium"/>
                <a:sym typeface="Roboto Medium"/>
              </a:rPr>
              <a:t> pipelines in practice</a:t>
            </a:r>
            <a:endParaRPr sz="46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Ground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truth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for AI evals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with Prodigy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F8F4F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Agenda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423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Introduction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Annotation vs Evaluation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Annotation project design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Prodigy as an annotation tool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Annotation tasks: classification, NER, IE, summarization, document partitioning, RAG?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Prodigy demo with code for each task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Using Prodigy for model output investigation / insights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 &amp; 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539850" y="445025"/>
            <a:ext cx="7890900" cy="572700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51C2C"/>
                </a:solidFill>
                <a:latin typeface="Roboto"/>
                <a:ea typeface="Roboto"/>
                <a:cs typeface="Roboto"/>
                <a:sym typeface="Roboto"/>
              </a:rPr>
              <a:t>RTFM</a:t>
            </a:r>
            <a:endParaRPr b="1" sz="2600">
              <a:solidFill>
                <a:srgbClr val="051C2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051C2C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586950" y="3606775"/>
            <a:ext cx="3595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Prodigy has an </a:t>
            </a:r>
            <a:r>
              <a:rPr i="1" lang="en" sz="1100">
                <a:latin typeface="Roboto"/>
                <a:ea typeface="Roboto"/>
                <a:cs typeface="Roboto"/>
                <a:sym typeface="Roboto"/>
              </a:rPr>
              <a:t>excellent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 documentation, please take the full advantage of it: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u="sng">
                <a:solidFill>
                  <a:srgbClr val="017ECF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https://prodi.gy/docs</a:t>
            </a:r>
            <a:endParaRPr sz="1100" u="sng">
              <a:solidFill>
                <a:srgbClr val="017EC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4669150" y="1017725"/>
            <a:ext cx="3545400" cy="4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A Unique RTFM Messag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e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This notice came from the 2012 issue of Maximum PC magazine's guide to building your own PC.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latin typeface="Roboto"/>
                <a:ea typeface="Roboto"/>
                <a:cs typeface="Roboto"/>
                <a:sym typeface="Roboto"/>
              </a:rPr>
              <a:t>Source:</a:t>
            </a:r>
            <a:r>
              <a:rPr lang="en" sz="900"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/>
              </a:rPr>
              <a:t> </a:t>
            </a:r>
            <a:r>
              <a:rPr lang="en" sz="900" u="sng">
                <a:solidFill>
                  <a:srgbClr val="017ECF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https://www.pcmag.com/encyclopedia/term/rtfm</a:t>
            </a:r>
            <a:r>
              <a:rPr lang="en" sz="900">
                <a:latin typeface="Roboto"/>
                <a:ea typeface="Roboto"/>
                <a:cs typeface="Roboto"/>
                <a:sym typeface="Roboto"/>
              </a:rPr>
              <a:t> /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51C2C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760275" y="2423313"/>
            <a:ext cx="30612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51C2C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539850" y="1225650"/>
            <a:ext cx="3689700" cy="2173200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406350" y="1329300"/>
            <a:ext cx="3956700" cy="23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38100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RTFM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 is an acronym and internet slang for the expression </a:t>
            </a: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"Read the f***ing manual"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– typically used to reply to a basic question where the answer is easily found in the documentation, user guide, owner's manual, man page, online help, internet forum, software documentation or FAQ.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51C2C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r>
              <a:rPr lang="en" sz="900" u="sng">
                <a:solidFill>
                  <a:srgbClr val="017ECF"/>
                </a:solidFill>
                <a:latin typeface="Roboto"/>
                <a:ea typeface="Roboto"/>
                <a:cs typeface="Roboto"/>
                <a:sym typeface="Robo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wikipedia.org</a:t>
            </a:r>
            <a:r>
              <a:rPr lang="en" sz="900">
                <a:solidFill>
                  <a:srgbClr val="051C2C"/>
                </a:solidFill>
                <a:latin typeface="Roboto"/>
                <a:ea typeface="Roboto"/>
                <a:cs typeface="Roboto"/>
                <a:sym typeface="Roboto"/>
              </a:rPr>
              <a:t> –</a:t>
            </a:r>
            <a:endParaRPr sz="900">
              <a:solidFill>
                <a:srgbClr val="051C2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700">
                <a:solidFill>
                  <a:srgbClr val="051C2C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700">
              <a:solidFill>
                <a:srgbClr val="051C2C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13962" y="1963325"/>
            <a:ext cx="1855776" cy="26659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2132250" y="1172850"/>
            <a:ext cx="6702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2"/>
                </a:solidFill>
              </a:rPr>
              <a:t>“</a:t>
            </a:r>
            <a:endParaRPr sz="6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3554199" y="2522966"/>
            <a:ext cx="1342500" cy="748800"/>
          </a:xfrm>
          <a:prstGeom prst="roundRect">
            <a:avLst>
              <a:gd fmla="val 16667" name="adj"/>
            </a:avLst>
          </a:prstGeom>
          <a:solidFill>
            <a:srgbClr val="F8F4F1"/>
          </a:solidFill>
          <a:ln cap="flat" cmpd="sng" w="9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25" lIns="88225" spcFirstLastPara="1" rIns="88225" wrap="square" tIns="88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/>
              <a:t>SME</a:t>
            </a:r>
            <a:endParaRPr sz="1350"/>
          </a:p>
        </p:txBody>
      </p:sp>
      <p:sp>
        <p:nvSpPr>
          <p:cNvPr id="79" name="Google Shape;79;p16"/>
          <p:cNvSpPr/>
          <p:nvPr/>
        </p:nvSpPr>
        <p:spPr>
          <a:xfrm>
            <a:off x="6881813" y="2234626"/>
            <a:ext cx="1342500" cy="748800"/>
          </a:xfrm>
          <a:prstGeom prst="roundRect">
            <a:avLst>
              <a:gd fmla="val 16667" name="adj"/>
            </a:avLst>
          </a:prstGeom>
          <a:solidFill>
            <a:srgbClr val="F8F4F1"/>
          </a:solidFill>
          <a:ln cap="flat" cmpd="sng" w="9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25" lIns="88225" spcFirstLastPara="1" rIns="88225" wrap="square" tIns="88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/>
              <a:t>Model Developer</a:t>
            </a:r>
            <a:endParaRPr sz="1350"/>
          </a:p>
        </p:txBody>
      </p:sp>
      <p:sp>
        <p:nvSpPr>
          <p:cNvPr id="80" name="Google Shape;80;p16"/>
          <p:cNvSpPr/>
          <p:nvPr/>
        </p:nvSpPr>
        <p:spPr>
          <a:xfrm>
            <a:off x="5208797" y="4167043"/>
            <a:ext cx="1342500" cy="748800"/>
          </a:xfrm>
          <a:prstGeom prst="roundRect">
            <a:avLst>
              <a:gd fmla="val 16667" name="adj"/>
            </a:avLst>
          </a:prstGeom>
          <a:solidFill>
            <a:srgbClr val="F8F4F1"/>
          </a:solidFill>
          <a:ln cap="flat" cmpd="sng" w="9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25" lIns="88225" spcFirstLastPara="1" rIns="88225" wrap="square" tIns="88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/>
              <a:t>Model</a:t>
            </a:r>
            <a:endParaRPr sz="1350"/>
          </a:p>
        </p:txBody>
      </p:sp>
      <p:sp>
        <p:nvSpPr>
          <p:cNvPr id="81" name="Google Shape;81;p16"/>
          <p:cNvSpPr/>
          <p:nvPr/>
        </p:nvSpPr>
        <p:spPr>
          <a:xfrm rot="10800000">
            <a:off x="6626716" y="3110146"/>
            <a:ext cx="1126200" cy="1711800"/>
          </a:xfrm>
          <a:prstGeom prst="bentArrow">
            <a:avLst>
              <a:gd fmla="val 25000" name="adj1"/>
              <a:gd fmla="val 25041" name="adj2"/>
              <a:gd fmla="val 32357" name="adj3"/>
              <a:gd fmla="val 47797" name="adj4"/>
            </a:avLst>
          </a:prstGeom>
          <a:solidFill>
            <a:srgbClr val="F8F4F1"/>
          </a:solidFill>
          <a:ln cap="flat" cmpd="sng" w="9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25" lIns="88225" spcFirstLastPara="1" rIns="88225" wrap="square" tIns="88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2" name="Google Shape;82;p16"/>
          <p:cNvSpPr/>
          <p:nvPr/>
        </p:nvSpPr>
        <p:spPr>
          <a:xfrm rot="-5400000">
            <a:off x="3833466" y="3410043"/>
            <a:ext cx="1284300" cy="1225200"/>
          </a:xfrm>
          <a:prstGeom prst="bentArrow">
            <a:avLst>
              <a:gd fmla="val 25000" name="adj1"/>
              <a:gd fmla="val 25000" name="adj2"/>
              <a:gd fmla="val 32357" name="adj3"/>
              <a:gd fmla="val 47797" name="adj4"/>
            </a:avLst>
          </a:prstGeom>
          <a:solidFill>
            <a:srgbClr val="F8F4F1"/>
          </a:solidFill>
          <a:ln cap="flat" cmpd="sng" w="9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25" lIns="88225" spcFirstLastPara="1" rIns="88225" wrap="square" tIns="88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3" name="Google Shape;83;p16"/>
          <p:cNvSpPr/>
          <p:nvPr/>
        </p:nvSpPr>
        <p:spPr>
          <a:xfrm>
            <a:off x="3979499" y="1317797"/>
            <a:ext cx="3818400" cy="1026300"/>
          </a:xfrm>
          <a:prstGeom prst="uturnArrow">
            <a:avLst>
              <a:gd fmla="val 32757" name="adj1"/>
              <a:gd fmla="val 25000" name="adj2"/>
              <a:gd fmla="val 27286" name="adj3"/>
              <a:gd fmla="val 43750" name="adj4"/>
              <a:gd fmla="val 83315" name="adj5"/>
            </a:avLst>
          </a:prstGeom>
          <a:solidFill>
            <a:srgbClr val="F8F4F1"/>
          </a:solidFill>
          <a:ln cap="flat" cmpd="sng" w="9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25" lIns="88225" spcFirstLastPara="1" rIns="88225" wrap="square" tIns="88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4" name="Google Shape;84;p16"/>
          <p:cNvSpPr txBox="1"/>
          <p:nvPr/>
        </p:nvSpPr>
        <p:spPr>
          <a:xfrm>
            <a:off x="3381594" y="4218254"/>
            <a:ext cx="918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25" lIns="88225" spcFirstLastPara="1" rIns="88225" wrap="square" tIns="88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7">
                <a:solidFill>
                  <a:schemeClr val="dk2"/>
                </a:solidFill>
              </a:rPr>
              <a:t>Outputs</a:t>
            </a:r>
            <a:endParaRPr sz="1157">
              <a:solidFill>
                <a:schemeClr val="dk2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5429250" y="841925"/>
            <a:ext cx="918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25" lIns="88225" spcFirstLastPara="1" rIns="88225" wrap="square" tIns="88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7">
                <a:solidFill>
                  <a:schemeClr val="dk2"/>
                </a:solidFill>
              </a:rPr>
              <a:t>Evaluation</a:t>
            </a:r>
            <a:endParaRPr sz="1157">
              <a:solidFill>
                <a:schemeClr val="dk2"/>
              </a:solidFill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7797908" y="3527338"/>
            <a:ext cx="13425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25" lIns="88225" spcFirstLastPara="1" rIns="88225" wrap="square" tIns="88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7">
                <a:solidFill>
                  <a:schemeClr val="dk2"/>
                </a:solidFill>
              </a:rPr>
              <a:t>Improvements</a:t>
            </a:r>
            <a:endParaRPr sz="1157">
              <a:solidFill>
                <a:schemeClr val="dk2"/>
              </a:solidFill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392200" y="224125"/>
            <a:ext cx="8208300" cy="617700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</a:rPr>
              <a:t>Expert-in-the-loop </a:t>
            </a:r>
            <a:r>
              <a:rPr b="1" lang="en" sz="2300">
                <a:solidFill>
                  <a:schemeClr val="dk2"/>
                </a:solidFill>
              </a:rPr>
              <a:t>Treadmill</a:t>
            </a:r>
            <a:endParaRPr b="1" sz="2300">
              <a:solidFill>
                <a:schemeClr val="dk2"/>
              </a:solidFill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186775" y="924475"/>
            <a:ext cx="3162000" cy="3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Non-scalable:</a:t>
            </a:r>
            <a:r>
              <a:rPr lang="en" sz="1100">
                <a:solidFill>
                  <a:schemeClr val="dk1"/>
                </a:solidFill>
              </a:rPr>
              <a:t> Each model update demands renewed SME review time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No knowledge accumulation:</a:t>
            </a:r>
            <a:r>
              <a:rPr lang="en" sz="1100">
                <a:solidFill>
                  <a:schemeClr val="dk1"/>
                </a:solidFill>
              </a:rPr>
              <a:t> Expert feedback is not captured as structured data, so the process never compounds.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High cost: </a:t>
            </a:r>
            <a:r>
              <a:rPr lang="en" sz="1100">
                <a:solidFill>
                  <a:schemeClr val="dk1"/>
                </a:solidFill>
              </a:rPr>
              <a:t>SMEs are expensive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Delayed iteration:</a:t>
            </a:r>
            <a:r>
              <a:rPr lang="en" sz="1100">
                <a:solidFill>
                  <a:schemeClr val="dk1"/>
                </a:solidFill>
              </a:rPr>
              <a:t> Models can’t be retrained or deployed quickly because review cycles block releases.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Opaque traceability:</a:t>
            </a:r>
            <a:r>
              <a:rPr lang="en" sz="1100">
                <a:solidFill>
                  <a:schemeClr val="dk1"/>
                </a:solidFill>
              </a:rPr>
              <a:t> Without a persistent dataset, it’s impossible to reproduce prior evaluation outcomes.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Burnout risk:</a:t>
            </a:r>
            <a:r>
              <a:rPr lang="en" sz="1100">
                <a:solidFill>
                  <a:schemeClr val="dk1"/>
                </a:solidFill>
              </a:rPr>
              <a:t> Experts repeat the same reviews indefinitely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/>
        </p:nvSpPr>
        <p:spPr>
          <a:xfrm>
            <a:off x="392200" y="224125"/>
            <a:ext cx="8208300" cy="617700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</a:rPr>
              <a:t>Expert-in-the-loop Treadmill</a:t>
            </a:r>
            <a:endParaRPr b="1" sz="2300">
              <a:solidFill>
                <a:schemeClr val="dk2"/>
              </a:solidFill>
            </a:endParaRPr>
          </a:p>
        </p:txBody>
      </p:sp>
      <p:pic>
        <p:nvPicPr>
          <p:cNvPr id="94" name="Google Shape;94;p17" title="Hamster Walking Gif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5450" y="1081475"/>
            <a:ext cx="5094634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/>
          <p:nvPr/>
        </p:nvSpPr>
        <p:spPr>
          <a:xfrm>
            <a:off x="3517594" y="2391558"/>
            <a:ext cx="1370700" cy="764700"/>
          </a:xfrm>
          <a:prstGeom prst="roundRect">
            <a:avLst>
              <a:gd fmla="val 16667" name="adj"/>
            </a:avLst>
          </a:prstGeom>
          <a:solidFill>
            <a:srgbClr val="F8F4F1"/>
          </a:solidFill>
          <a:ln cap="flat" cmpd="sng" w="9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75" lIns="90075" spcFirstLastPara="1" rIns="90075" wrap="square" tIns="90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9"/>
              <a:t>Ground</a:t>
            </a:r>
            <a:br>
              <a:rPr lang="en" sz="1379"/>
            </a:br>
            <a:r>
              <a:rPr lang="en" sz="1379"/>
              <a:t>Truth</a:t>
            </a:r>
            <a:endParaRPr sz="1379"/>
          </a:p>
        </p:txBody>
      </p:sp>
      <p:sp>
        <p:nvSpPr>
          <p:cNvPr id="100" name="Google Shape;100;p18"/>
          <p:cNvSpPr/>
          <p:nvPr/>
        </p:nvSpPr>
        <p:spPr>
          <a:xfrm>
            <a:off x="6915237" y="2097150"/>
            <a:ext cx="1370700" cy="764700"/>
          </a:xfrm>
          <a:prstGeom prst="roundRect">
            <a:avLst>
              <a:gd fmla="val 16667" name="adj"/>
            </a:avLst>
          </a:prstGeom>
          <a:solidFill>
            <a:srgbClr val="F8F4F1"/>
          </a:solidFill>
          <a:ln cap="flat" cmpd="sng" w="9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75" lIns="90075" spcFirstLastPara="1" rIns="90075" wrap="square" tIns="90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9"/>
              <a:t>Model Developer</a:t>
            </a:r>
            <a:endParaRPr sz="1379"/>
          </a:p>
        </p:txBody>
      </p:sp>
      <p:sp>
        <p:nvSpPr>
          <p:cNvPr id="101" name="Google Shape;101;p18"/>
          <p:cNvSpPr/>
          <p:nvPr/>
        </p:nvSpPr>
        <p:spPr>
          <a:xfrm>
            <a:off x="5207013" y="4070236"/>
            <a:ext cx="1370700" cy="764700"/>
          </a:xfrm>
          <a:prstGeom prst="roundRect">
            <a:avLst>
              <a:gd fmla="val 16667" name="adj"/>
            </a:avLst>
          </a:prstGeom>
          <a:solidFill>
            <a:srgbClr val="F8F4F1"/>
          </a:solidFill>
          <a:ln cap="flat" cmpd="sng" w="9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75" lIns="90075" spcFirstLastPara="1" rIns="90075" wrap="square" tIns="90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9"/>
              <a:t>Model</a:t>
            </a:r>
            <a:endParaRPr sz="1379"/>
          </a:p>
        </p:txBody>
      </p:sp>
      <p:sp>
        <p:nvSpPr>
          <p:cNvPr id="102" name="Google Shape;102;p18"/>
          <p:cNvSpPr/>
          <p:nvPr/>
        </p:nvSpPr>
        <p:spPr>
          <a:xfrm rot="10800000">
            <a:off x="6654771" y="2991120"/>
            <a:ext cx="1149900" cy="1747800"/>
          </a:xfrm>
          <a:prstGeom prst="bentArrow">
            <a:avLst>
              <a:gd fmla="val 25000" name="adj1"/>
              <a:gd fmla="val 25041" name="adj2"/>
              <a:gd fmla="val 32357" name="adj3"/>
              <a:gd fmla="val 47797" name="adj4"/>
            </a:avLst>
          </a:prstGeom>
          <a:solidFill>
            <a:srgbClr val="F8F4F1"/>
          </a:solidFill>
          <a:ln cap="flat" cmpd="sng" w="9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75" lIns="90075" spcFirstLastPara="1" rIns="90075" wrap="square" tIns="90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9"/>
          </a:p>
        </p:txBody>
      </p:sp>
      <p:sp>
        <p:nvSpPr>
          <p:cNvPr id="103" name="Google Shape;103;p18"/>
          <p:cNvSpPr/>
          <p:nvPr/>
        </p:nvSpPr>
        <p:spPr>
          <a:xfrm rot="-5400000">
            <a:off x="3802760" y="3297310"/>
            <a:ext cx="1311300" cy="1251000"/>
          </a:xfrm>
          <a:prstGeom prst="bentArrow">
            <a:avLst>
              <a:gd fmla="val 25000" name="adj1"/>
              <a:gd fmla="val 25000" name="adj2"/>
              <a:gd fmla="val 32357" name="adj3"/>
              <a:gd fmla="val 47797" name="adj4"/>
            </a:avLst>
          </a:prstGeom>
          <a:solidFill>
            <a:srgbClr val="F8F4F1"/>
          </a:solidFill>
          <a:ln cap="flat" cmpd="sng" w="9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75" lIns="90075" spcFirstLastPara="1" rIns="90075" wrap="square" tIns="90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9"/>
          </a:p>
        </p:txBody>
      </p:sp>
      <p:sp>
        <p:nvSpPr>
          <p:cNvPr id="104" name="Google Shape;104;p18"/>
          <p:cNvSpPr/>
          <p:nvPr/>
        </p:nvSpPr>
        <p:spPr>
          <a:xfrm>
            <a:off x="3951845" y="1161026"/>
            <a:ext cx="3898800" cy="1047900"/>
          </a:xfrm>
          <a:prstGeom prst="uturnArrow">
            <a:avLst>
              <a:gd fmla="val 32757" name="adj1"/>
              <a:gd fmla="val 25000" name="adj2"/>
              <a:gd fmla="val 27286" name="adj3"/>
              <a:gd fmla="val 43750" name="adj4"/>
              <a:gd fmla="val 83315" name="adj5"/>
            </a:avLst>
          </a:prstGeom>
          <a:solidFill>
            <a:srgbClr val="F8F4F1"/>
          </a:solidFill>
          <a:ln cap="flat" cmpd="sng" w="9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75" lIns="90075" spcFirstLastPara="1" rIns="90075" wrap="square" tIns="90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9"/>
          </a:p>
        </p:txBody>
      </p:sp>
      <p:sp>
        <p:nvSpPr>
          <p:cNvPr id="105" name="Google Shape;105;p18"/>
          <p:cNvSpPr/>
          <p:nvPr/>
        </p:nvSpPr>
        <p:spPr>
          <a:xfrm>
            <a:off x="818375" y="2378254"/>
            <a:ext cx="1361700" cy="791100"/>
          </a:xfrm>
          <a:prstGeom prst="roundRect">
            <a:avLst>
              <a:gd fmla="val 16667" name="adj"/>
            </a:avLst>
          </a:prstGeom>
          <a:solidFill>
            <a:srgbClr val="F8F4F1"/>
          </a:solidFill>
          <a:ln cap="flat" cmpd="sng" w="9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75" lIns="90075" spcFirstLastPara="1" rIns="90075" wrap="square" tIns="90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9"/>
              <a:t>SME</a:t>
            </a:r>
            <a:endParaRPr sz="1379"/>
          </a:p>
        </p:txBody>
      </p:sp>
      <p:sp>
        <p:nvSpPr>
          <p:cNvPr id="106" name="Google Shape;106;p18"/>
          <p:cNvSpPr/>
          <p:nvPr/>
        </p:nvSpPr>
        <p:spPr>
          <a:xfrm>
            <a:off x="2299551" y="2582628"/>
            <a:ext cx="1149900" cy="40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8F4F1"/>
          </a:solidFill>
          <a:ln cap="flat" cmpd="sng" w="9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75" lIns="90075" spcFirstLastPara="1" rIns="90075" wrap="square" tIns="90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9"/>
          </a:p>
        </p:txBody>
      </p:sp>
      <p:sp>
        <p:nvSpPr>
          <p:cNvPr id="107" name="Google Shape;107;p18"/>
          <p:cNvSpPr/>
          <p:nvPr/>
        </p:nvSpPr>
        <p:spPr>
          <a:xfrm>
            <a:off x="1499176" y="3211758"/>
            <a:ext cx="3584477" cy="1527107"/>
          </a:xfrm>
          <a:custGeom>
            <a:rect b="b" l="l" r="r" t="t"/>
            <a:pathLst>
              <a:path extrusionOk="0" h="63058" w="145297">
                <a:moveTo>
                  <a:pt x="0" y="0"/>
                </a:moveTo>
                <a:cubicBezTo>
                  <a:pt x="2926" y="9712"/>
                  <a:pt x="-6660" y="48310"/>
                  <a:pt x="17556" y="58271"/>
                </a:cubicBezTo>
                <a:cubicBezTo>
                  <a:pt x="41772" y="68232"/>
                  <a:pt x="124007" y="59516"/>
                  <a:pt x="145297" y="59765"/>
                </a:cubicBezTo>
              </a:path>
            </a:pathLst>
          </a:custGeom>
          <a:noFill/>
          <a:ln cap="flat" cmpd="sng" w="28150">
            <a:solidFill>
              <a:schemeClr val="dk2"/>
            </a:solidFill>
            <a:prstDash val="dot"/>
            <a:round/>
            <a:headEnd len="med" w="med" type="stealth"/>
            <a:tailEnd len="med" w="med" type="none"/>
          </a:ln>
        </p:spPr>
      </p:sp>
      <p:sp>
        <p:nvSpPr>
          <p:cNvPr id="108" name="Google Shape;108;p18"/>
          <p:cNvSpPr txBox="1"/>
          <p:nvPr/>
        </p:nvSpPr>
        <p:spPr>
          <a:xfrm>
            <a:off x="456900" y="224125"/>
            <a:ext cx="8143800" cy="617700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</a:rPr>
              <a:t>Continuous Evaluation Loop</a:t>
            </a:r>
            <a:endParaRPr b="1" sz="23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rgbClr val="0E0E0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5434853" y="841925"/>
            <a:ext cx="918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25" lIns="88225" spcFirstLastPara="1" rIns="88225" wrap="square" tIns="88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7">
                <a:solidFill>
                  <a:schemeClr val="dk2"/>
                </a:solidFill>
              </a:rPr>
              <a:t>Evaluation</a:t>
            </a:r>
            <a:endParaRPr sz="1157">
              <a:solidFill>
                <a:schemeClr val="dk2"/>
              </a:solidFill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7823523" y="3527338"/>
            <a:ext cx="13425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25" lIns="88225" spcFirstLastPara="1" rIns="88225" wrap="square" tIns="88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7">
                <a:solidFill>
                  <a:schemeClr val="dk2"/>
                </a:solidFill>
              </a:rPr>
              <a:t>Model improvements</a:t>
            </a:r>
            <a:endParaRPr sz="1157">
              <a:solidFill>
                <a:schemeClr val="dk2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3301658" y="3913454"/>
            <a:ext cx="918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25" lIns="88225" spcFirstLastPara="1" rIns="88225" wrap="square" tIns="88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7">
                <a:solidFill>
                  <a:schemeClr val="dk2"/>
                </a:solidFill>
              </a:rPr>
              <a:t>Outputs</a:t>
            </a:r>
            <a:endParaRPr sz="1157">
              <a:solidFill>
                <a:schemeClr val="dk2"/>
              </a:solidFill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2338858" y="2373939"/>
            <a:ext cx="918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25" lIns="88225" spcFirstLastPara="1" rIns="88225" wrap="square" tIns="88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7">
                <a:solidFill>
                  <a:schemeClr val="dk2"/>
                </a:solidFill>
              </a:rPr>
              <a:t>Annotation</a:t>
            </a:r>
            <a:endParaRPr sz="1157">
              <a:solidFill>
                <a:schemeClr val="dk2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456908" y="3913454"/>
            <a:ext cx="9189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25" lIns="88225" spcFirstLastPara="1" rIns="88225" wrap="square" tIns="882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7">
                <a:solidFill>
                  <a:schemeClr val="dk2"/>
                </a:solidFill>
              </a:rPr>
              <a:t>Only when needed</a:t>
            </a:r>
            <a:endParaRPr sz="1157">
              <a:solidFill>
                <a:schemeClr val="dk2"/>
              </a:solidFill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456900" y="905800"/>
            <a:ext cx="30255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Turning expert effort into persistent data assets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/>
          <p:nvPr/>
        </p:nvSpPr>
        <p:spPr>
          <a:xfrm>
            <a:off x="7007575" y="1105401"/>
            <a:ext cx="1699500" cy="3595500"/>
          </a:xfrm>
          <a:prstGeom prst="roundRect">
            <a:avLst>
              <a:gd fmla="val 4829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5190225" y="1105426"/>
            <a:ext cx="1757100" cy="3595500"/>
          </a:xfrm>
          <a:prstGeom prst="roundRect">
            <a:avLst>
              <a:gd fmla="val 4829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3437975" y="1098401"/>
            <a:ext cx="1699500" cy="3595500"/>
          </a:xfrm>
          <a:prstGeom prst="roundRect">
            <a:avLst>
              <a:gd fmla="val 4829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 txBox="1"/>
          <p:nvPr>
            <p:ph type="title"/>
          </p:nvPr>
        </p:nvSpPr>
        <p:spPr>
          <a:xfrm>
            <a:off x="186850" y="202225"/>
            <a:ext cx="8520300" cy="572700"/>
          </a:xfrm>
          <a:prstGeom prst="rect">
            <a:avLst/>
          </a:prstGeom>
          <a:solidFill>
            <a:srgbClr val="F8F4F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320"/>
              <a:t>Annotation Project Design</a:t>
            </a:r>
            <a:endParaRPr b="1" sz="2320"/>
          </a:p>
        </p:txBody>
      </p:sp>
      <p:sp>
        <p:nvSpPr>
          <p:cNvPr id="123" name="Google Shape;123;p19"/>
          <p:cNvSpPr/>
          <p:nvPr/>
        </p:nvSpPr>
        <p:spPr>
          <a:xfrm>
            <a:off x="5495933" y="1893212"/>
            <a:ext cx="1155000" cy="644100"/>
          </a:xfrm>
          <a:prstGeom prst="roundRect">
            <a:avLst>
              <a:gd fmla="val 16667" name="adj"/>
            </a:avLst>
          </a:prstGeom>
          <a:solidFill>
            <a:srgbClr val="F8F4F1"/>
          </a:solidFill>
          <a:ln cap="flat" cmpd="sng" w="7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950" lIns="75950" spcFirstLastPara="1" rIns="75950" wrap="square" tIns="75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2"/>
              <a:t>SME</a:t>
            </a:r>
            <a:endParaRPr sz="1162"/>
          </a:p>
        </p:txBody>
      </p:sp>
      <p:sp>
        <p:nvSpPr>
          <p:cNvPr id="124" name="Google Shape;124;p19"/>
          <p:cNvSpPr/>
          <p:nvPr/>
        </p:nvSpPr>
        <p:spPr>
          <a:xfrm>
            <a:off x="5495933" y="2747593"/>
            <a:ext cx="1155000" cy="644100"/>
          </a:xfrm>
          <a:prstGeom prst="roundRect">
            <a:avLst>
              <a:gd fmla="val 16667" name="adj"/>
            </a:avLst>
          </a:prstGeom>
          <a:solidFill>
            <a:srgbClr val="F8F4F1"/>
          </a:solidFill>
          <a:ln cap="flat" cmpd="sng" w="7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950" lIns="75950" spcFirstLastPara="1" rIns="75950" wrap="square" tIns="75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2"/>
              <a:t>SME</a:t>
            </a:r>
            <a:endParaRPr sz="1162"/>
          </a:p>
        </p:txBody>
      </p:sp>
      <p:sp>
        <p:nvSpPr>
          <p:cNvPr id="125" name="Google Shape;125;p19"/>
          <p:cNvSpPr/>
          <p:nvPr/>
        </p:nvSpPr>
        <p:spPr>
          <a:xfrm>
            <a:off x="5495933" y="3601973"/>
            <a:ext cx="1155000" cy="644100"/>
          </a:xfrm>
          <a:prstGeom prst="roundRect">
            <a:avLst>
              <a:gd fmla="val 16667" name="adj"/>
            </a:avLst>
          </a:prstGeom>
          <a:solidFill>
            <a:srgbClr val="F8F4F1"/>
          </a:solidFill>
          <a:ln cap="flat" cmpd="sng" w="79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5950" lIns="75950" spcFirstLastPara="1" rIns="75950" wrap="square" tIns="75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2"/>
              <a:t>Model Developer</a:t>
            </a:r>
            <a:endParaRPr sz="1162"/>
          </a:p>
        </p:txBody>
      </p:sp>
      <p:sp>
        <p:nvSpPr>
          <p:cNvPr id="126" name="Google Shape;126;p19"/>
          <p:cNvSpPr/>
          <p:nvPr/>
        </p:nvSpPr>
        <p:spPr>
          <a:xfrm>
            <a:off x="3701750" y="2369904"/>
            <a:ext cx="1155000" cy="644100"/>
          </a:xfrm>
          <a:prstGeom prst="roundRect">
            <a:avLst>
              <a:gd fmla="val 16667" name="adj"/>
            </a:avLst>
          </a:prstGeom>
          <a:solidFill>
            <a:srgbClr val="F8F4F1"/>
          </a:solidFill>
          <a:ln cap="flat" cmpd="sng" w="7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950" lIns="75950" spcFirstLastPara="1" rIns="75950" wrap="square" tIns="75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2"/>
              <a:t>Annotation Guidelines</a:t>
            </a:r>
            <a:endParaRPr sz="1162"/>
          </a:p>
        </p:txBody>
      </p:sp>
      <p:sp>
        <p:nvSpPr>
          <p:cNvPr id="127" name="Google Shape;127;p19"/>
          <p:cNvSpPr/>
          <p:nvPr/>
        </p:nvSpPr>
        <p:spPr>
          <a:xfrm>
            <a:off x="3701750" y="3289202"/>
            <a:ext cx="1155000" cy="644100"/>
          </a:xfrm>
          <a:prstGeom prst="roundRect">
            <a:avLst>
              <a:gd fmla="val 16667" name="adj"/>
            </a:avLst>
          </a:prstGeom>
          <a:solidFill>
            <a:srgbClr val="F8F4F1"/>
          </a:solidFill>
          <a:ln cap="flat" cmpd="sng" w="7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950" lIns="75950" spcFirstLastPara="1" rIns="75950" wrap="square" tIns="75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2"/>
              <a:t>Dataset</a:t>
            </a:r>
            <a:endParaRPr sz="1162"/>
          </a:p>
        </p:txBody>
      </p:sp>
      <p:sp>
        <p:nvSpPr>
          <p:cNvPr id="128" name="Google Shape;128;p19"/>
          <p:cNvSpPr/>
          <p:nvPr/>
        </p:nvSpPr>
        <p:spPr>
          <a:xfrm>
            <a:off x="7280810" y="2747612"/>
            <a:ext cx="1155000" cy="644100"/>
          </a:xfrm>
          <a:prstGeom prst="roundRect">
            <a:avLst>
              <a:gd fmla="val 16667" name="adj"/>
            </a:avLst>
          </a:prstGeom>
          <a:solidFill>
            <a:srgbClr val="F8F4F1"/>
          </a:solidFill>
          <a:ln cap="flat" cmpd="sng" w="7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950" lIns="75950" spcFirstLastPara="1" rIns="75950" wrap="square" tIns="75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2"/>
              <a:t>SME + Model Developer</a:t>
            </a:r>
            <a:endParaRPr sz="1162"/>
          </a:p>
        </p:txBody>
      </p:sp>
      <p:cxnSp>
        <p:nvCxnSpPr>
          <p:cNvPr id="129" name="Google Shape;129;p19"/>
          <p:cNvCxnSpPr>
            <a:endCxn id="123" idx="1"/>
          </p:cNvCxnSpPr>
          <p:nvPr/>
        </p:nvCxnSpPr>
        <p:spPr>
          <a:xfrm flipH="1" rot="10800000">
            <a:off x="4874333" y="2215262"/>
            <a:ext cx="621600" cy="456300"/>
          </a:xfrm>
          <a:prstGeom prst="straightConnector1">
            <a:avLst/>
          </a:prstGeom>
          <a:noFill/>
          <a:ln cap="flat" cmpd="sng" w="9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19"/>
          <p:cNvCxnSpPr>
            <a:stCxn id="126" idx="3"/>
            <a:endCxn id="124" idx="1"/>
          </p:cNvCxnSpPr>
          <p:nvPr/>
        </p:nvCxnSpPr>
        <p:spPr>
          <a:xfrm>
            <a:off x="4856750" y="2691954"/>
            <a:ext cx="639300" cy="377700"/>
          </a:xfrm>
          <a:prstGeom prst="straightConnector1">
            <a:avLst/>
          </a:prstGeom>
          <a:noFill/>
          <a:ln cap="flat" cmpd="sng" w="9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19"/>
          <p:cNvCxnSpPr>
            <a:stCxn id="126" idx="3"/>
            <a:endCxn id="125" idx="1"/>
          </p:cNvCxnSpPr>
          <p:nvPr/>
        </p:nvCxnSpPr>
        <p:spPr>
          <a:xfrm>
            <a:off x="4856750" y="2691954"/>
            <a:ext cx="639300" cy="1232100"/>
          </a:xfrm>
          <a:prstGeom prst="straightConnector1">
            <a:avLst/>
          </a:prstGeom>
          <a:noFill/>
          <a:ln cap="flat" cmpd="sng" w="9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19"/>
          <p:cNvCxnSpPr>
            <a:stCxn id="127" idx="3"/>
            <a:endCxn id="123" idx="1"/>
          </p:cNvCxnSpPr>
          <p:nvPr/>
        </p:nvCxnSpPr>
        <p:spPr>
          <a:xfrm flipH="1" rot="10800000">
            <a:off x="4856750" y="2215352"/>
            <a:ext cx="639300" cy="1395900"/>
          </a:xfrm>
          <a:prstGeom prst="straightConnector1">
            <a:avLst/>
          </a:prstGeom>
          <a:noFill/>
          <a:ln cap="flat" cmpd="sng" w="9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19"/>
          <p:cNvCxnSpPr>
            <a:stCxn id="127" idx="3"/>
            <a:endCxn id="124" idx="1"/>
          </p:cNvCxnSpPr>
          <p:nvPr/>
        </p:nvCxnSpPr>
        <p:spPr>
          <a:xfrm flipH="1" rot="10800000">
            <a:off x="4856750" y="3069752"/>
            <a:ext cx="639300" cy="541500"/>
          </a:xfrm>
          <a:prstGeom prst="straightConnector1">
            <a:avLst/>
          </a:prstGeom>
          <a:noFill/>
          <a:ln cap="flat" cmpd="sng" w="9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19"/>
          <p:cNvCxnSpPr>
            <a:stCxn id="127" idx="3"/>
            <a:endCxn id="125" idx="1"/>
          </p:cNvCxnSpPr>
          <p:nvPr/>
        </p:nvCxnSpPr>
        <p:spPr>
          <a:xfrm>
            <a:off x="4856750" y="3611252"/>
            <a:ext cx="639300" cy="312900"/>
          </a:xfrm>
          <a:prstGeom prst="straightConnector1">
            <a:avLst/>
          </a:prstGeom>
          <a:noFill/>
          <a:ln cap="flat" cmpd="sng" w="9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19"/>
          <p:cNvCxnSpPr>
            <a:stCxn id="123" idx="3"/>
            <a:endCxn id="128" idx="1"/>
          </p:cNvCxnSpPr>
          <p:nvPr/>
        </p:nvCxnSpPr>
        <p:spPr>
          <a:xfrm>
            <a:off x="6650933" y="2215262"/>
            <a:ext cx="630000" cy="854400"/>
          </a:xfrm>
          <a:prstGeom prst="straightConnector1">
            <a:avLst/>
          </a:prstGeom>
          <a:noFill/>
          <a:ln cap="flat" cmpd="sng" w="9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p19"/>
          <p:cNvCxnSpPr>
            <a:stCxn id="124" idx="3"/>
            <a:endCxn id="128" idx="1"/>
          </p:cNvCxnSpPr>
          <p:nvPr/>
        </p:nvCxnSpPr>
        <p:spPr>
          <a:xfrm>
            <a:off x="6650933" y="3069643"/>
            <a:ext cx="630000" cy="0"/>
          </a:xfrm>
          <a:prstGeom prst="straightConnector1">
            <a:avLst/>
          </a:prstGeom>
          <a:noFill/>
          <a:ln cap="flat" cmpd="sng" w="9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" name="Google Shape;137;p19"/>
          <p:cNvCxnSpPr>
            <a:stCxn id="125" idx="3"/>
            <a:endCxn id="128" idx="1"/>
          </p:cNvCxnSpPr>
          <p:nvPr/>
        </p:nvCxnSpPr>
        <p:spPr>
          <a:xfrm flipH="1" rot="10800000">
            <a:off x="6650933" y="3069623"/>
            <a:ext cx="630000" cy="854400"/>
          </a:xfrm>
          <a:prstGeom prst="straightConnector1">
            <a:avLst/>
          </a:prstGeom>
          <a:noFill/>
          <a:ln cap="flat" cmpd="sng" w="9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" name="Google Shape;138;p19"/>
          <p:cNvCxnSpPr>
            <a:stCxn id="128" idx="0"/>
            <a:endCxn id="126" idx="0"/>
          </p:cNvCxnSpPr>
          <p:nvPr/>
        </p:nvCxnSpPr>
        <p:spPr>
          <a:xfrm flipH="1" rot="5400000">
            <a:off x="5879960" y="769262"/>
            <a:ext cx="377700" cy="3579000"/>
          </a:xfrm>
          <a:prstGeom prst="bentConnector3">
            <a:avLst>
              <a:gd fmla="val 275903" name="adj1"/>
            </a:avLst>
          </a:prstGeom>
          <a:noFill/>
          <a:ln cap="flat" cmpd="sng" w="93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9" name="Google Shape;139;p19"/>
          <p:cNvSpPr txBox="1"/>
          <p:nvPr/>
        </p:nvSpPr>
        <p:spPr>
          <a:xfrm>
            <a:off x="3498644" y="1084382"/>
            <a:ext cx="12834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Annotation Project Design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5316001" y="1091401"/>
            <a:ext cx="14985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Initial Annotation Round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7133344" y="1091382"/>
            <a:ext cx="12834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Review Disagreements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186850" y="917550"/>
            <a:ext cx="3072600" cy="3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Some design considerations:</a:t>
            </a:r>
            <a:endParaRPr b="1" sz="1100">
              <a:solidFill>
                <a:schemeClr val="dk1"/>
              </a:solidFill>
            </a:endParaRPr>
          </a:p>
          <a:p>
            <a:pPr indent="-115570" lvl="0" marL="27432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Labeling schema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r>
              <a:rPr lang="en" sz="1100">
                <a:solidFill>
                  <a:schemeClr val="dk1"/>
                </a:solidFill>
              </a:rPr>
              <a:t> entities, spans, text classification, binary choice, etc 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11557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Granularity</a:t>
            </a:r>
            <a:r>
              <a:rPr lang="en" sz="1100">
                <a:solidFill>
                  <a:schemeClr val="dk1"/>
                </a:solidFill>
              </a:rPr>
              <a:t>: full document vs fragment vs sentence</a:t>
            </a:r>
            <a:br>
              <a:rPr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11557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Single-step vs multi-step workflows:</a:t>
            </a:r>
            <a:r>
              <a:rPr lang="en" sz="1100">
                <a:solidFill>
                  <a:schemeClr val="dk1"/>
                </a:solidFill>
              </a:rPr>
              <a:t> some tasks need two phases (identify spans -&gt; categorize), while others can be single-pass.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11557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Pre-labeling strategy:</a:t>
            </a:r>
            <a:r>
              <a:rPr lang="en" sz="1100">
                <a:solidFill>
                  <a:schemeClr val="dk1"/>
                </a:solidFill>
              </a:rPr>
              <a:t> using model-assisted labeling saves time but risks anchoring bias.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11557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Adjudication:</a:t>
            </a:r>
            <a:r>
              <a:rPr lang="en" sz="1100">
                <a:solidFill>
                  <a:schemeClr val="dk1"/>
                </a:solidFill>
              </a:rPr>
              <a:t> must define how conflicts are resolved — consensus, majority vote, or expert adjudicator.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45720" lvl="0" marL="27432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/>
          <p:nvPr/>
        </p:nvSpPr>
        <p:spPr>
          <a:xfrm>
            <a:off x="7923100" y="1049200"/>
            <a:ext cx="1176900" cy="3728400"/>
          </a:xfrm>
          <a:prstGeom prst="roundRect">
            <a:avLst>
              <a:gd fmla="val 9449" name="adj"/>
            </a:avLst>
          </a:prstGeom>
          <a:solidFill>
            <a:schemeClr val="lt1"/>
          </a:solidFill>
          <a:ln cap="flat" cmpd="sng" w="93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89300" lIns="89300" spcFirstLastPara="1" rIns="89300" wrap="square" tIns="89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7"/>
          </a:p>
        </p:txBody>
      </p:sp>
      <p:sp>
        <p:nvSpPr>
          <p:cNvPr id="148" name="Google Shape;148;p20"/>
          <p:cNvSpPr/>
          <p:nvPr/>
        </p:nvSpPr>
        <p:spPr>
          <a:xfrm>
            <a:off x="6697560" y="1049200"/>
            <a:ext cx="1180200" cy="3728400"/>
          </a:xfrm>
          <a:prstGeom prst="roundRect">
            <a:avLst>
              <a:gd fmla="val 9449" name="adj"/>
            </a:avLst>
          </a:prstGeom>
          <a:solidFill>
            <a:schemeClr val="lt1"/>
          </a:solidFill>
          <a:ln cap="flat" cmpd="sng" w="93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89300" lIns="89300" spcFirstLastPara="1" rIns="89300" wrap="square" tIns="89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7"/>
          </a:p>
        </p:txBody>
      </p:sp>
      <p:sp>
        <p:nvSpPr>
          <p:cNvPr id="149" name="Google Shape;149;p20"/>
          <p:cNvSpPr/>
          <p:nvPr/>
        </p:nvSpPr>
        <p:spPr>
          <a:xfrm>
            <a:off x="5320380" y="1049200"/>
            <a:ext cx="1325700" cy="3728400"/>
          </a:xfrm>
          <a:prstGeom prst="roundRect">
            <a:avLst>
              <a:gd fmla="val 9449" name="adj"/>
            </a:avLst>
          </a:prstGeom>
          <a:solidFill>
            <a:schemeClr val="lt1"/>
          </a:solidFill>
          <a:ln cap="flat" cmpd="sng" w="93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89300" lIns="89300" spcFirstLastPara="1" rIns="89300" wrap="square" tIns="89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7"/>
          </a:p>
        </p:txBody>
      </p:sp>
      <p:sp>
        <p:nvSpPr>
          <p:cNvPr id="150" name="Google Shape;150;p20"/>
          <p:cNvSpPr/>
          <p:nvPr/>
        </p:nvSpPr>
        <p:spPr>
          <a:xfrm>
            <a:off x="2367050" y="1049200"/>
            <a:ext cx="2911200" cy="3728400"/>
          </a:xfrm>
          <a:prstGeom prst="roundRect">
            <a:avLst>
              <a:gd fmla="val 4829" name="adj"/>
            </a:avLst>
          </a:prstGeom>
          <a:solidFill>
            <a:schemeClr val="lt1"/>
          </a:solidFill>
          <a:ln cap="flat" cmpd="sng" w="93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89300" lIns="89300" spcFirstLastPara="1" rIns="89300" wrap="square" tIns="89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7"/>
          </a:p>
        </p:txBody>
      </p:sp>
      <p:sp>
        <p:nvSpPr>
          <p:cNvPr id="151" name="Google Shape;151;p20"/>
          <p:cNvSpPr/>
          <p:nvPr/>
        </p:nvSpPr>
        <p:spPr>
          <a:xfrm>
            <a:off x="4064163" y="1618728"/>
            <a:ext cx="1000200" cy="558000"/>
          </a:xfrm>
          <a:prstGeom prst="roundRect">
            <a:avLst>
              <a:gd fmla="val 16667" name="adj"/>
            </a:avLst>
          </a:prstGeom>
          <a:solidFill>
            <a:srgbClr val="F8F4F1"/>
          </a:solidFill>
          <a:ln cap="flat" cmpd="sng" w="6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75" lIns="65775" spcFirstLastPara="1" rIns="65775" wrap="square" tIns="6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6"/>
              <a:t>SME</a:t>
            </a:r>
            <a:endParaRPr sz="1006"/>
          </a:p>
        </p:txBody>
      </p:sp>
      <p:sp>
        <p:nvSpPr>
          <p:cNvPr id="152" name="Google Shape;152;p20"/>
          <p:cNvSpPr/>
          <p:nvPr/>
        </p:nvSpPr>
        <p:spPr>
          <a:xfrm>
            <a:off x="4064163" y="2358577"/>
            <a:ext cx="1000200" cy="558000"/>
          </a:xfrm>
          <a:prstGeom prst="roundRect">
            <a:avLst>
              <a:gd fmla="val 16667" name="adj"/>
            </a:avLst>
          </a:prstGeom>
          <a:solidFill>
            <a:srgbClr val="F8F4F1"/>
          </a:solidFill>
          <a:ln cap="flat" cmpd="sng" w="6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75" lIns="65775" spcFirstLastPara="1" rIns="65775" wrap="square" tIns="6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6"/>
              <a:t>SME</a:t>
            </a:r>
            <a:endParaRPr sz="1006"/>
          </a:p>
        </p:txBody>
      </p:sp>
      <p:sp>
        <p:nvSpPr>
          <p:cNvPr id="153" name="Google Shape;153;p20"/>
          <p:cNvSpPr/>
          <p:nvPr/>
        </p:nvSpPr>
        <p:spPr>
          <a:xfrm>
            <a:off x="4064163" y="3098427"/>
            <a:ext cx="1000200" cy="558000"/>
          </a:xfrm>
          <a:prstGeom prst="roundRect">
            <a:avLst>
              <a:gd fmla="val 16667" name="adj"/>
            </a:avLst>
          </a:prstGeom>
          <a:solidFill>
            <a:srgbClr val="F8F4F1"/>
          </a:solidFill>
          <a:ln cap="flat" cmpd="sng" w="68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5775" lIns="65775" spcFirstLastPara="1" rIns="65775" wrap="square" tIns="6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6"/>
              <a:t>Model Developer</a:t>
            </a:r>
            <a:endParaRPr sz="1006"/>
          </a:p>
        </p:txBody>
      </p:sp>
      <p:sp>
        <p:nvSpPr>
          <p:cNvPr id="154" name="Google Shape;154;p20"/>
          <p:cNvSpPr/>
          <p:nvPr/>
        </p:nvSpPr>
        <p:spPr>
          <a:xfrm>
            <a:off x="4064163" y="3838276"/>
            <a:ext cx="1000200" cy="558000"/>
          </a:xfrm>
          <a:prstGeom prst="roundRect">
            <a:avLst>
              <a:gd fmla="val 16667" name="adj"/>
            </a:avLst>
          </a:prstGeom>
          <a:solidFill>
            <a:srgbClr val="F8F4F1"/>
          </a:solidFill>
          <a:ln cap="flat" cmpd="sng" w="68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5775" lIns="65775" spcFirstLastPara="1" rIns="65775" wrap="square" tIns="6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6"/>
              <a:t>Model</a:t>
            </a:r>
            <a:endParaRPr sz="1006"/>
          </a:p>
        </p:txBody>
      </p:sp>
      <p:sp>
        <p:nvSpPr>
          <p:cNvPr id="155" name="Google Shape;155;p20"/>
          <p:cNvSpPr/>
          <p:nvPr/>
        </p:nvSpPr>
        <p:spPr>
          <a:xfrm>
            <a:off x="2510506" y="2031519"/>
            <a:ext cx="1000200" cy="558000"/>
          </a:xfrm>
          <a:prstGeom prst="roundRect">
            <a:avLst>
              <a:gd fmla="val 16667" name="adj"/>
            </a:avLst>
          </a:prstGeom>
          <a:solidFill>
            <a:srgbClr val="F8F4F1"/>
          </a:solidFill>
          <a:ln cap="flat" cmpd="sng" w="6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75" lIns="65775" spcFirstLastPara="1" rIns="65775" wrap="square" tIns="6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6"/>
              <a:t>Annotation Guidelines</a:t>
            </a:r>
            <a:endParaRPr sz="1006"/>
          </a:p>
        </p:txBody>
      </p:sp>
      <p:sp>
        <p:nvSpPr>
          <p:cNvPr id="156" name="Google Shape;156;p20"/>
          <p:cNvSpPr/>
          <p:nvPr/>
        </p:nvSpPr>
        <p:spPr>
          <a:xfrm>
            <a:off x="2510506" y="3453318"/>
            <a:ext cx="1000200" cy="558000"/>
          </a:xfrm>
          <a:prstGeom prst="roundRect">
            <a:avLst>
              <a:gd fmla="val 16667" name="adj"/>
            </a:avLst>
          </a:prstGeom>
          <a:solidFill>
            <a:srgbClr val="F8F4F1"/>
          </a:solidFill>
          <a:ln cap="flat" cmpd="sng" w="6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75" lIns="65775" spcFirstLastPara="1" rIns="65775" wrap="square" tIns="6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6"/>
              <a:t>Dataset</a:t>
            </a:r>
            <a:endParaRPr sz="1006"/>
          </a:p>
        </p:txBody>
      </p:sp>
      <p:sp>
        <p:nvSpPr>
          <p:cNvPr id="157" name="Google Shape;157;p20"/>
          <p:cNvSpPr/>
          <p:nvPr/>
        </p:nvSpPr>
        <p:spPr>
          <a:xfrm>
            <a:off x="5506925" y="2359651"/>
            <a:ext cx="1000200" cy="558000"/>
          </a:xfrm>
          <a:prstGeom prst="roundRect">
            <a:avLst>
              <a:gd fmla="val 16667" name="adj"/>
            </a:avLst>
          </a:prstGeom>
          <a:solidFill>
            <a:srgbClr val="F8F4F1"/>
          </a:solidFill>
          <a:ln cap="flat" cmpd="sng" w="6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75" lIns="65775" spcFirstLastPara="1" rIns="65775" wrap="square" tIns="6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6"/>
              <a:t>SME Adjudicator</a:t>
            </a:r>
            <a:endParaRPr sz="1006"/>
          </a:p>
        </p:txBody>
      </p:sp>
      <p:cxnSp>
        <p:nvCxnSpPr>
          <p:cNvPr id="158" name="Google Shape;158;p20"/>
          <p:cNvCxnSpPr>
            <a:endCxn id="151" idx="1"/>
          </p:cNvCxnSpPr>
          <p:nvPr/>
        </p:nvCxnSpPr>
        <p:spPr>
          <a:xfrm flipH="1" rot="10800000">
            <a:off x="3525663" y="1897728"/>
            <a:ext cx="538500" cy="395400"/>
          </a:xfrm>
          <a:prstGeom prst="straightConnector1">
            <a:avLst/>
          </a:prstGeom>
          <a:noFill/>
          <a:ln cap="flat" cmpd="sng" w="81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20"/>
          <p:cNvCxnSpPr>
            <a:stCxn id="155" idx="3"/>
            <a:endCxn id="152" idx="1"/>
          </p:cNvCxnSpPr>
          <p:nvPr/>
        </p:nvCxnSpPr>
        <p:spPr>
          <a:xfrm>
            <a:off x="3510706" y="2310519"/>
            <a:ext cx="553500" cy="327000"/>
          </a:xfrm>
          <a:prstGeom prst="straightConnector1">
            <a:avLst/>
          </a:prstGeom>
          <a:noFill/>
          <a:ln cap="flat" cmpd="sng" w="81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20"/>
          <p:cNvCxnSpPr>
            <a:stCxn id="155" idx="3"/>
            <a:endCxn id="153" idx="1"/>
          </p:cNvCxnSpPr>
          <p:nvPr/>
        </p:nvCxnSpPr>
        <p:spPr>
          <a:xfrm>
            <a:off x="3510706" y="2310519"/>
            <a:ext cx="553500" cy="1066800"/>
          </a:xfrm>
          <a:prstGeom prst="straightConnector1">
            <a:avLst/>
          </a:prstGeom>
          <a:noFill/>
          <a:ln cap="flat" cmpd="sng" w="81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p20"/>
          <p:cNvCxnSpPr>
            <a:stCxn id="156" idx="3"/>
            <a:endCxn id="151" idx="1"/>
          </p:cNvCxnSpPr>
          <p:nvPr/>
        </p:nvCxnSpPr>
        <p:spPr>
          <a:xfrm flipH="1" rot="10800000">
            <a:off x="3510706" y="1897818"/>
            <a:ext cx="553500" cy="1834500"/>
          </a:xfrm>
          <a:prstGeom prst="straightConnector1">
            <a:avLst/>
          </a:prstGeom>
          <a:noFill/>
          <a:ln cap="flat" cmpd="sng" w="81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0"/>
          <p:cNvCxnSpPr>
            <a:stCxn id="156" idx="3"/>
            <a:endCxn id="152" idx="1"/>
          </p:cNvCxnSpPr>
          <p:nvPr/>
        </p:nvCxnSpPr>
        <p:spPr>
          <a:xfrm flipH="1" rot="10800000">
            <a:off x="3510706" y="2637618"/>
            <a:ext cx="553500" cy="1094700"/>
          </a:xfrm>
          <a:prstGeom prst="straightConnector1">
            <a:avLst/>
          </a:prstGeom>
          <a:noFill/>
          <a:ln cap="flat" cmpd="sng" w="81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p20"/>
          <p:cNvCxnSpPr>
            <a:stCxn id="156" idx="3"/>
            <a:endCxn id="153" idx="1"/>
          </p:cNvCxnSpPr>
          <p:nvPr/>
        </p:nvCxnSpPr>
        <p:spPr>
          <a:xfrm flipH="1" rot="10800000">
            <a:off x="3510706" y="3377418"/>
            <a:ext cx="553500" cy="354900"/>
          </a:xfrm>
          <a:prstGeom prst="straightConnector1">
            <a:avLst/>
          </a:prstGeom>
          <a:noFill/>
          <a:ln cap="flat" cmpd="sng" w="81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" name="Google Shape;164;p20"/>
          <p:cNvCxnSpPr>
            <a:stCxn id="156" idx="3"/>
            <a:endCxn id="154" idx="1"/>
          </p:cNvCxnSpPr>
          <p:nvPr/>
        </p:nvCxnSpPr>
        <p:spPr>
          <a:xfrm>
            <a:off x="3510706" y="3732318"/>
            <a:ext cx="553500" cy="384900"/>
          </a:xfrm>
          <a:prstGeom prst="straightConnector1">
            <a:avLst/>
          </a:prstGeom>
          <a:noFill/>
          <a:ln cap="flat" cmpd="sng" w="81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p20"/>
          <p:cNvSpPr/>
          <p:nvPr/>
        </p:nvSpPr>
        <p:spPr>
          <a:xfrm>
            <a:off x="5506925" y="3099504"/>
            <a:ext cx="1000200" cy="558000"/>
          </a:xfrm>
          <a:prstGeom prst="roundRect">
            <a:avLst>
              <a:gd fmla="val 16667" name="adj"/>
            </a:avLst>
          </a:prstGeom>
          <a:solidFill>
            <a:srgbClr val="F8F4F1"/>
          </a:solidFill>
          <a:ln cap="flat" cmpd="sng" w="6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75" lIns="65775" spcFirstLastPara="1" rIns="65775" wrap="square" tIns="6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6"/>
              <a:t>Model Developer</a:t>
            </a:r>
            <a:endParaRPr sz="1006"/>
          </a:p>
        </p:txBody>
      </p:sp>
      <p:sp>
        <p:nvSpPr>
          <p:cNvPr id="166" name="Google Shape;166;p20"/>
          <p:cNvSpPr/>
          <p:nvPr/>
        </p:nvSpPr>
        <p:spPr>
          <a:xfrm>
            <a:off x="6816472" y="2728399"/>
            <a:ext cx="1000200" cy="558000"/>
          </a:xfrm>
          <a:prstGeom prst="roundRect">
            <a:avLst>
              <a:gd fmla="val 16667" name="adj"/>
            </a:avLst>
          </a:prstGeom>
          <a:solidFill>
            <a:srgbClr val="F8F4F1"/>
          </a:solidFill>
          <a:ln cap="flat" cmpd="sng" w="6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75" lIns="65775" spcFirstLastPara="1" rIns="65775" wrap="square" tIns="6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6"/>
              <a:t>SME + Model Developer</a:t>
            </a:r>
            <a:endParaRPr sz="1006"/>
          </a:p>
        </p:txBody>
      </p:sp>
      <p:cxnSp>
        <p:nvCxnSpPr>
          <p:cNvPr id="167" name="Google Shape;167;p20"/>
          <p:cNvCxnSpPr>
            <a:stCxn id="151" idx="3"/>
            <a:endCxn id="157" idx="1"/>
          </p:cNvCxnSpPr>
          <p:nvPr/>
        </p:nvCxnSpPr>
        <p:spPr>
          <a:xfrm>
            <a:off x="5064363" y="1897728"/>
            <a:ext cx="442500" cy="741000"/>
          </a:xfrm>
          <a:prstGeom prst="straightConnector1">
            <a:avLst/>
          </a:prstGeom>
          <a:noFill/>
          <a:ln cap="flat" cmpd="sng" w="90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8" name="Google Shape;168;p20"/>
          <p:cNvCxnSpPr>
            <a:stCxn id="152" idx="3"/>
            <a:endCxn id="157" idx="1"/>
          </p:cNvCxnSpPr>
          <p:nvPr/>
        </p:nvCxnSpPr>
        <p:spPr>
          <a:xfrm>
            <a:off x="5064363" y="2637577"/>
            <a:ext cx="442500" cy="1200"/>
          </a:xfrm>
          <a:prstGeom prst="straightConnector1">
            <a:avLst/>
          </a:prstGeom>
          <a:noFill/>
          <a:ln cap="flat" cmpd="sng" w="9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20"/>
          <p:cNvCxnSpPr>
            <a:stCxn id="153" idx="3"/>
            <a:endCxn id="157" idx="1"/>
          </p:cNvCxnSpPr>
          <p:nvPr/>
        </p:nvCxnSpPr>
        <p:spPr>
          <a:xfrm flipH="1" rot="10800000">
            <a:off x="5064363" y="2638527"/>
            <a:ext cx="442500" cy="738900"/>
          </a:xfrm>
          <a:prstGeom prst="straightConnector1">
            <a:avLst/>
          </a:prstGeom>
          <a:noFill/>
          <a:ln cap="flat" cmpd="sng" w="9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20"/>
          <p:cNvCxnSpPr>
            <a:stCxn id="154" idx="3"/>
            <a:endCxn id="157" idx="1"/>
          </p:cNvCxnSpPr>
          <p:nvPr/>
        </p:nvCxnSpPr>
        <p:spPr>
          <a:xfrm flipH="1" rot="10800000">
            <a:off x="5064363" y="2638576"/>
            <a:ext cx="442500" cy="1478700"/>
          </a:xfrm>
          <a:prstGeom prst="straightConnector1">
            <a:avLst/>
          </a:prstGeom>
          <a:noFill/>
          <a:ln cap="flat" cmpd="sng" w="90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1" name="Google Shape;171;p20"/>
          <p:cNvCxnSpPr>
            <a:stCxn id="151" idx="3"/>
            <a:endCxn id="165" idx="1"/>
          </p:cNvCxnSpPr>
          <p:nvPr/>
        </p:nvCxnSpPr>
        <p:spPr>
          <a:xfrm>
            <a:off x="5064363" y="1897728"/>
            <a:ext cx="442500" cy="1480800"/>
          </a:xfrm>
          <a:prstGeom prst="straightConnector1">
            <a:avLst/>
          </a:prstGeom>
          <a:noFill/>
          <a:ln cap="flat" cmpd="sng" w="90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" name="Google Shape;172;p20"/>
          <p:cNvCxnSpPr>
            <a:stCxn id="152" idx="3"/>
            <a:endCxn id="165" idx="1"/>
          </p:cNvCxnSpPr>
          <p:nvPr/>
        </p:nvCxnSpPr>
        <p:spPr>
          <a:xfrm>
            <a:off x="5064363" y="2637577"/>
            <a:ext cx="442500" cy="741000"/>
          </a:xfrm>
          <a:prstGeom prst="straightConnector1">
            <a:avLst/>
          </a:prstGeom>
          <a:noFill/>
          <a:ln cap="flat" cmpd="sng" w="9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0"/>
          <p:cNvCxnSpPr>
            <a:stCxn id="153" idx="3"/>
            <a:endCxn id="165" idx="1"/>
          </p:cNvCxnSpPr>
          <p:nvPr/>
        </p:nvCxnSpPr>
        <p:spPr>
          <a:xfrm>
            <a:off x="5064363" y="3377427"/>
            <a:ext cx="442500" cy="1200"/>
          </a:xfrm>
          <a:prstGeom prst="straightConnector1">
            <a:avLst/>
          </a:prstGeom>
          <a:noFill/>
          <a:ln cap="flat" cmpd="sng" w="9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20"/>
          <p:cNvCxnSpPr>
            <a:stCxn id="154" idx="3"/>
            <a:endCxn id="165" idx="1"/>
          </p:cNvCxnSpPr>
          <p:nvPr/>
        </p:nvCxnSpPr>
        <p:spPr>
          <a:xfrm flipH="1" rot="10800000">
            <a:off x="5064363" y="3378376"/>
            <a:ext cx="442500" cy="738900"/>
          </a:xfrm>
          <a:prstGeom prst="straightConnector1">
            <a:avLst/>
          </a:prstGeom>
          <a:noFill/>
          <a:ln cap="flat" cmpd="sng" w="90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" name="Google Shape;175;p20"/>
          <p:cNvSpPr/>
          <p:nvPr/>
        </p:nvSpPr>
        <p:spPr>
          <a:xfrm>
            <a:off x="8017436" y="2728408"/>
            <a:ext cx="1000200" cy="558000"/>
          </a:xfrm>
          <a:prstGeom prst="roundRect">
            <a:avLst>
              <a:gd fmla="val 16667" name="adj"/>
            </a:avLst>
          </a:prstGeom>
          <a:solidFill>
            <a:srgbClr val="F8F4F1"/>
          </a:solidFill>
          <a:ln cap="flat" cmpd="sng" w="6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75" lIns="65775" spcFirstLastPara="1" rIns="65775" wrap="square" tIns="6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6"/>
              <a:t>Gold Standard</a:t>
            </a:r>
            <a:endParaRPr sz="1006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6"/>
              <a:t>Dataset</a:t>
            </a:r>
            <a:endParaRPr sz="1006"/>
          </a:p>
        </p:txBody>
      </p:sp>
      <p:cxnSp>
        <p:nvCxnSpPr>
          <p:cNvPr id="176" name="Google Shape;176;p20"/>
          <p:cNvCxnSpPr>
            <a:stCxn id="157" idx="3"/>
            <a:endCxn id="166" idx="1"/>
          </p:cNvCxnSpPr>
          <p:nvPr/>
        </p:nvCxnSpPr>
        <p:spPr>
          <a:xfrm>
            <a:off x="6507125" y="2638651"/>
            <a:ext cx="309300" cy="368700"/>
          </a:xfrm>
          <a:prstGeom prst="straightConnector1">
            <a:avLst/>
          </a:prstGeom>
          <a:noFill/>
          <a:ln cap="flat" cmpd="sng" w="90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" name="Google Shape;177;p20"/>
          <p:cNvCxnSpPr>
            <a:stCxn id="165" idx="3"/>
            <a:endCxn id="166" idx="1"/>
          </p:cNvCxnSpPr>
          <p:nvPr/>
        </p:nvCxnSpPr>
        <p:spPr>
          <a:xfrm flipH="1" rot="10800000">
            <a:off x="6507125" y="3007404"/>
            <a:ext cx="309300" cy="371100"/>
          </a:xfrm>
          <a:prstGeom prst="straightConnector1">
            <a:avLst/>
          </a:prstGeom>
          <a:noFill/>
          <a:ln cap="flat" cmpd="sng" w="90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20"/>
          <p:cNvCxnSpPr>
            <a:stCxn id="166" idx="3"/>
            <a:endCxn id="175" idx="1"/>
          </p:cNvCxnSpPr>
          <p:nvPr/>
        </p:nvCxnSpPr>
        <p:spPr>
          <a:xfrm>
            <a:off x="7816672" y="3007399"/>
            <a:ext cx="200700" cy="0"/>
          </a:xfrm>
          <a:prstGeom prst="straightConnector1">
            <a:avLst/>
          </a:prstGeom>
          <a:noFill/>
          <a:ln cap="flat" cmpd="sng" w="90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" name="Google Shape;179;p20"/>
          <p:cNvSpPr txBox="1"/>
          <p:nvPr/>
        </p:nvSpPr>
        <p:spPr>
          <a:xfrm>
            <a:off x="2510506" y="1129218"/>
            <a:ext cx="17421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89300" lIns="89300" spcFirstLastPara="1" rIns="89300" wrap="square" tIns="89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72">
                <a:solidFill>
                  <a:schemeClr val="dk2"/>
                </a:solidFill>
              </a:rPr>
              <a:t>Annotation Round</a:t>
            </a:r>
            <a:endParaRPr b="1" sz="1172">
              <a:solidFill>
                <a:schemeClr val="dk2"/>
              </a:solidFill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506962" y="1129218"/>
            <a:ext cx="10002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89300" lIns="89300" spcFirstLastPara="1" rIns="89300" wrap="square" tIns="89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72">
                <a:solidFill>
                  <a:schemeClr val="dk2"/>
                </a:solidFill>
              </a:rPr>
              <a:t>Review 1</a:t>
            </a:r>
            <a:endParaRPr b="1" sz="1172">
              <a:solidFill>
                <a:schemeClr val="dk2"/>
              </a:solidFill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6784659" y="1129218"/>
            <a:ext cx="10002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89300" lIns="89300" spcFirstLastPara="1" rIns="89300" wrap="square" tIns="89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72">
                <a:solidFill>
                  <a:schemeClr val="dk2"/>
                </a:solidFill>
              </a:rPr>
              <a:t>Review 2</a:t>
            </a:r>
            <a:endParaRPr b="1" sz="1172">
              <a:solidFill>
                <a:schemeClr val="dk2"/>
              </a:solidFill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7973279" y="1129218"/>
            <a:ext cx="10002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89300" lIns="89300" spcFirstLastPara="1" rIns="89300" wrap="square" tIns="89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72">
                <a:solidFill>
                  <a:schemeClr val="dk2"/>
                </a:solidFill>
              </a:rPr>
              <a:t>Ready</a:t>
            </a:r>
            <a:endParaRPr b="1" sz="1172">
              <a:solidFill>
                <a:schemeClr val="dk2"/>
              </a:solidFill>
            </a:endParaRPr>
          </a:p>
        </p:txBody>
      </p:sp>
      <p:sp>
        <p:nvSpPr>
          <p:cNvPr id="183" name="Google Shape;183;p20"/>
          <p:cNvSpPr txBox="1"/>
          <p:nvPr>
            <p:ph type="title"/>
          </p:nvPr>
        </p:nvSpPr>
        <p:spPr>
          <a:xfrm>
            <a:off x="224125" y="183550"/>
            <a:ext cx="8793600" cy="572700"/>
          </a:xfrm>
          <a:prstGeom prst="rect">
            <a:avLst/>
          </a:prstGeom>
          <a:solidFill>
            <a:srgbClr val="F8F4F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320"/>
              <a:t>Annotation Workflow</a:t>
            </a:r>
            <a:endParaRPr b="1" sz="2320"/>
          </a:p>
        </p:txBody>
      </p:sp>
      <p:sp>
        <p:nvSpPr>
          <p:cNvPr id="184" name="Google Shape;184;p20"/>
          <p:cNvSpPr txBox="1"/>
          <p:nvPr/>
        </p:nvSpPr>
        <p:spPr>
          <a:xfrm>
            <a:off x="130725" y="917550"/>
            <a:ext cx="2194500" cy="3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Some design considerations:</a:t>
            </a:r>
            <a:endParaRPr b="1" sz="1100">
              <a:solidFill>
                <a:schemeClr val="dk1"/>
              </a:solidFill>
            </a:endParaRPr>
          </a:p>
          <a:p>
            <a:pPr indent="-115570" lvl="0" marL="9144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Model developer as annotator:</a:t>
            </a:r>
            <a:r>
              <a:rPr lang="en" sz="1100">
                <a:solidFill>
                  <a:schemeClr val="dk1"/>
                </a:solidFill>
              </a:rPr>
              <a:t> quite u</a:t>
            </a:r>
            <a:r>
              <a:rPr lang="en" sz="1100">
                <a:solidFill>
                  <a:schemeClr val="dk1"/>
                </a:solidFill>
              </a:rPr>
              <a:t>nconventional, but highly effective practice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11557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Model outputs</a:t>
            </a:r>
            <a:r>
              <a:rPr lang="en" sz="1100">
                <a:solidFill>
                  <a:schemeClr val="dk1"/>
                </a:solidFill>
              </a:rPr>
              <a:t>: if model is mature, can help with discovering annotation errors. Also, may be used for pre-labeling.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11557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Double-review</a:t>
            </a:r>
            <a:r>
              <a:rPr lang="en" sz="1100">
                <a:solidFill>
                  <a:schemeClr val="dk1"/>
                </a:solidFill>
              </a:rPr>
              <a:t>: we observed ~7-8% disagreement rate between annotators. First, SME and Model Developer review disagreements separately, and then review their adjudication differences together.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650" y="1161838"/>
            <a:ext cx="6551849" cy="3600649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252125" y="224125"/>
            <a:ext cx="8476500" cy="617700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</a:rPr>
              <a:t>Prodigy: a </a:t>
            </a:r>
            <a:r>
              <a:rPr b="1" lang="en" sz="2300">
                <a:solidFill>
                  <a:schemeClr val="dk2"/>
                </a:solidFill>
              </a:rPr>
              <a:t>modern</a:t>
            </a:r>
            <a:r>
              <a:rPr b="1" lang="en" sz="2300">
                <a:solidFill>
                  <a:schemeClr val="dk2"/>
                </a:solidFill>
              </a:rPr>
              <a:t> annotation tool from creators of spaCy</a:t>
            </a:r>
            <a:endParaRPr b="1" sz="2300">
              <a:solidFill>
                <a:schemeClr val="dk2"/>
              </a:solidFill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186775" y="924475"/>
            <a:ext cx="1989900" cy="3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7009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Runs locally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r>
              <a:rPr lang="en" sz="1100">
                <a:solidFill>
                  <a:schemeClr val="dk1"/>
                </a:solidFill>
              </a:rPr>
              <a:t> no privacy restrictions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07009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Built for customization</a:t>
            </a:r>
            <a:r>
              <a:rPr lang="en" sz="1100">
                <a:solidFill>
                  <a:schemeClr val="dk1"/>
                </a:solidFill>
              </a:rPr>
              <a:t>: allows to define fully custom data feeds and interfaces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07009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Out-of-the-box interfaces</a:t>
            </a:r>
            <a:r>
              <a:rPr lang="en" sz="1100">
                <a:solidFill>
                  <a:schemeClr val="dk1"/>
                </a:solidFill>
              </a:rPr>
              <a:t>: multiple annotation </a:t>
            </a:r>
            <a:r>
              <a:rPr lang="en" sz="1100">
                <a:solidFill>
                  <a:schemeClr val="dk1"/>
                </a:solidFill>
              </a:rPr>
              <a:t>interfaces are available (e.g. NER, Entity Relations, Classification)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07009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Clean, distraction-free interface</a:t>
            </a:r>
            <a:r>
              <a:rPr lang="en" sz="1100">
                <a:solidFill>
                  <a:schemeClr val="dk1"/>
                </a:solidFill>
              </a:rPr>
              <a:t>: allows to focus on one task at a time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07009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Stores data in DB</a:t>
            </a:r>
            <a:r>
              <a:rPr lang="en" sz="1100">
                <a:solidFill>
                  <a:schemeClr val="dk1"/>
                </a:solidFill>
              </a:rPr>
              <a:t>: supports Sqlite, PostgresQL and MySQL databases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192" name="Google Shape;19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650" y="1161838"/>
            <a:ext cx="6551849" cy="3600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F8F4F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</a:rPr>
              <a:t>Resources</a:t>
            </a:r>
            <a:endParaRPr b="1" sz="2300">
              <a:solidFill>
                <a:schemeClr val="dk2"/>
              </a:solidFill>
            </a:endParaRPr>
          </a:p>
        </p:txBody>
      </p:sp>
      <p:sp>
        <p:nvSpPr>
          <p:cNvPr id="198" name="Google Shape;19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Prodigy </a:t>
            </a:r>
            <a:r>
              <a:rPr lang="en"/>
              <a:t>website</a:t>
            </a:r>
            <a:r>
              <a:rPr lang="en"/>
              <a:t>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https://prodi.gy/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Documentation: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https://prodi.gy/docs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Live Demo: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https://demo.prodi.gy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Blog: 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https://explosion.ai/_/topic/llms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